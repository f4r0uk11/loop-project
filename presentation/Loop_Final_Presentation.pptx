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op-pres-assets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701" y="660350"/>
            <a:ext cx="4663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KNOWLEDGE DOESN'T SCALE · AUI UI/UX BOOTCAMP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58701" y="1123801"/>
            <a:ext cx="466344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8800" b="1" dirty="0">
                <a:solidFill>
                  <a:srgbClr val="ED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</a:t>
            </a:r>
            <a:endParaRPr lang="en-US" sz="8800" dirty="0"/>
          </a:p>
        </p:txBody>
      </p:sp>
      <p:sp>
        <p:nvSpPr>
          <p:cNvPr id="5" name="Text 2"/>
          <p:cNvSpPr/>
          <p:nvPr/>
        </p:nvSpPr>
        <p:spPr>
          <a:xfrm>
            <a:off x="558701" y="2527102"/>
            <a:ext cx="4663440" cy="625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spcBef>
                <a:spcPts val="1000"/>
              </a:spcBef>
              <a:buNone/>
            </a:pPr>
            <a:r>
              <a:rPr lang="en-US" sz="1700" dirty="0">
                <a:solidFill>
                  <a:srgbClr val="ED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AUI knowledge network</a:t>
            </a:r>
            <a:endParaRPr lang="en-US" sz="1700" dirty="0"/>
          </a:p>
          <a:p>
            <a:pPr algn="l" indent="0" marL="0">
              <a:lnSpc>
                <a:spcPts val="2465"/>
              </a:lnSpc>
              <a:spcBef>
                <a:spcPts val="1000"/>
              </a:spcBef>
              <a:buNone/>
            </a:pPr>
            <a:r>
              <a:rPr lang="en-US" sz="1700" dirty="0">
                <a:solidFill>
                  <a:srgbClr val="ED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never forgets.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58701" y="3483173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600"/>
              </a:spcBef>
              <a:buNone/>
            </a:pPr>
            <a:r>
              <a:rPr lang="en-US" sz="1000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FAROUK  ·  MANAL  ·  HAYTAM  ·  ANASS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8701" y="3702248"/>
            <a:ext cx="4663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0795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828526"/>
            <a:ext cx="4404309" cy="175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7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answers that matter at AUI live in people's heads — and leave when they graduate.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58701" y="2761804"/>
            <a:ext cx="4404309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spcBef>
                <a:spcPts val="1400"/>
              </a:spcBef>
              <a:buNone/>
            </a:pPr>
            <a:r>
              <a:rPr lang="en-US" sz="115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channels hold policy. Peers hold practice. Neither is durable, searchable, and trustworthy at the same time. So every year, the whole campus relearns the same things from zero.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01" y="3643610"/>
            <a:ext cx="440430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600"/>
              </a:spcBef>
              <a:buNone/>
            </a:pPr>
            <a:r>
              <a:rPr lang="en-US" sz="11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just freshmen:</a:t>
            </a:r>
            <a:pPr algn="l" indent="0" marL="0">
              <a:lnSpc>
                <a:spcPts val="165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transfer at Add/Drop, an international student at residency renewal, a visiting professor relocating to Ifrane — anyone facing a process for the first time.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32350" y="939701"/>
            <a:ext cx="3352800" cy="884783"/>
          </a:xfrm>
          <a:prstGeom prst="roundRect">
            <a:avLst>
              <a:gd name="adj" fmla="val 8612"/>
            </a:avLst>
          </a:prstGeom>
          <a:solidFill>
            <a:srgbClr val="FBF8F2"/>
          </a:solidFill>
          <a:ln/>
          <a:effectLst>
            <a:outerShdw sx="100000" sy="100000" kx="0" ky="0" algn="bl" rotWithShape="0" blurRad="57150" dist="21299" dir="3780000">
              <a:srgbClr val="1d2b2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56163" y="939701"/>
            <a:ext cx="0" cy="884783"/>
          </a:xfrm>
          <a:prstGeom prst="line">
            <a:avLst/>
          </a:prstGeom>
          <a:noFill/>
          <a:ln w="47625">
            <a:solidFill>
              <a:srgbClr val="2C5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7676" y="1092101"/>
            <a:ext cx="300876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wasted visa trip.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website listed the documents. The office wanted something different in person.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32350" y="1976884"/>
            <a:ext cx="3352800" cy="691455"/>
          </a:xfrm>
          <a:prstGeom prst="roundRect">
            <a:avLst>
              <a:gd name="adj" fmla="val 11020"/>
            </a:avLst>
          </a:prstGeom>
          <a:solidFill>
            <a:srgbClr val="FBF8F2"/>
          </a:solidFill>
          <a:ln/>
          <a:effectLst>
            <a:outerShdw sx="100000" sy="100000" kx="0" ky="0" algn="bl" rotWithShape="0" blurRad="57150" dist="21299" dir="3780000">
              <a:srgbClr val="1d2b2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56163" y="1976884"/>
            <a:ext cx="0" cy="691455"/>
          </a:xfrm>
          <a:prstGeom prst="line">
            <a:avLst/>
          </a:prstGeom>
          <a:noFill/>
          <a:ln w="47625">
            <a:solidFill>
              <a:srgbClr val="B565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7676" y="2129284"/>
            <a:ext cx="3008769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200 MAD/week fine.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storage rule nobody explained — discovered only after it was broken.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2350" y="2820739"/>
            <a:ext cx="3352800" cy="884783"/>
          </a:xfrm>
          <a:prstGeom prst="roundRect">
            <a:avLst>
              <a:gd name="adj" fmla="val 8612"/>
            </a:avLst>
          </a:prstGeom>
          <a:solidFill>
            <a:srgbClr val="FBF8F2"/>
          </a:solidFill>
          <a:ln/>
          <a:effectLst>
            <a:outerShdw sx="100000" sy="100000" kx="0" ky="0" algn="bl" rotWithShape="0" blurRad="57150" dist="21299" dir="3780000">
              <a:srgbClr val="1d2b2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56163" y="2820739"/>
            <a:ext cx="0" cy="884783"/>
          </a:xfrm>
          <a:prstGeom prst="line">
            <a:avLst/>
          </a:prstGeom>
          <a:noFill/>
          <a:ln w="47625">
            <a:solidFill>
              <a:srgbClr val="2F6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7676" y="2973139"/>
            <a:ext cx="300876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Questioned at the gate.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Leaving campus late needs a signed process. New students learn it the hard way, every semester.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2350" y="3832473"/>
            <a:ext cx="3419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85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 costs, from our interviews — not hypotheticals.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0795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828526"/>
            <a:ext cx="3238449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interviews.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repeating loop.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01" y="1707207"/>
            <a:ext cx="32384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from 2nd to 4th year: a club president, a student mentor, an international student, an exchange veteran. Plus an affinity board and a six-stage journey map built from their stories.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01" y="2659707"/>
            <a:ext cx="32384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8701" y="2923729"/>
            <a:ext cx="3174950" cy="98375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channels fall short even when you go there first</a:t>
            </a:r>
            <a:endParaRPr lang="en-US" sz="1000" dirty="0"/>
          </a:p>
          <a:p>
            <a:pPr algn="l" marL="76200" indent="-762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answer lives in one specific person who did it</a:t>
            </a:r>
            <a:endParaRPr lang="en-US" sz="1000" dirty="0"/>
          </a:p>
          <a:p>
            <a:pPr algn="l" marL="76200" indent="-762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it down isn't enough — nobody finds the doc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89350" y="838200"/>
            <a:ext cx="4495800" cy="1015752"/>
          </a:xfrm>
          <a:prstGeom prst="roundRect">
            <a:avLst>
              <a:gd name="adj" fmla="val 10002"/>
            </a:avLst>
          </a:prstGeom>
          <a:solidFill>
            <a:srgbClr val="1D2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2501" y="1015901"/>
            <a:ext cx="41712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D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"There's a gap between the policy and the practice, and nobody owns fixing that gap."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2501" y="1561951"/>
            <a:ext cx="4171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850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MEHDI — 3RD YEAR, INTERNATIONAL · AFTER A WASTED VISA TRIP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89350" y="1993553"/>
            <a:ext cx="4495800" cy="1149102"/>
          </a:xfrm>
          <a:prstGeom prst="roundRect">
            <a:avLst>
              <a:gd name="adj" fmla="val 8842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02026" y="2180779"/>
            <a:ext cx="4151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 is a little strange that I'm doing the university's job for them — informally, for free."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02026" y="2726829"/>
            <a:ext cx="415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85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— SENIOR, CLUB PRESIDENT · ANSWERS THE SAME QUESTION EVERY YEAR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89350" y="3282255"/>
            <a:ext cx="4495800" cy="920502"/>
          </a:xfrm>
          <a:prstGeom prst="roundRect">
            <a:avLst>
              <a:gd name="adj" fmla="val 11037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02026" y="3469481"/>
            <a:ext cx="415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can't really trust people. I go to AI first."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02026" y="3786932"/>
            <a:ext cx="415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buNone/>
            </a:pPr>
            <a:r>
              <a:rPr lang="en-US" sz="85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— JUNIOR, STUDENT MENTOR · BURNED BY A FALSE SCHOLARSHIP RUMOR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1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66035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THE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1006376"/>
            <a:ext cx="77724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1600"/>
              </a:spcBef>
              <a:buNone/>
            </a:pPr>
            <a:r>
              <a:rPr lang="en-US" sz="2100" dirty="0">
                <a:solidFill>
                  <a:srgbClr val="A9B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instant someone learns the real answer is exactly when it should be captured for the next person 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1803648"/>
            <a:ext cx="7772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00"/>
              </a:spcBef>
              <a:buNone/>
            </a:pPr>
            <a:r>
              <a:rPr lang="en-US" sz="2100" dirty="0">
                <a:solidFill>
                  <a:srgbClr val="ED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instead of relying on them to informally become "the source."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62000" y="2486471"/>
            <a:ext cx="7620000" cy="0"/>
          </a:xfrm>
          <a:prstGeom prst="line">
            <a:avLst/>
          </a:prstGeom>
          <a:noFill/>
          <a:ln w="9525">
            <a:solidFill>
              <a:srgbClr val="EDE7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770584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2000" y="3030885"/>
            <a:ext cx="77724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…preserve and surface the institutional knowledge that leaves AUI when people graduate?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000" y="4031307"/>
            <a:ext cx="777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000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reframing that unlocked everything: not "help freshmen find answers" — help </a:t>
            </a:r>
            <a:pPr algn="l" indent="0" marL="0">
              <a:spcBef>
                <a:spcPts val="1400"/>
              </a:spcBef>
              <a:buNone/>
            </a:pPr>
            <a:r>
              <a:rPr lang="en-US" sz="10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facing something for the first time</a:t>
            </a:r>
            <a:pPr algn="l" indent="0" marL="0">
              <a:spcBef>
                <a:spcPts val="1400"/>
              </a:spcBef>
              <a:buNone/>
            </a:pPr>
            <a:r>
              <a:rPr lang="en-US" sz="1000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make the answer outlive its author.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50795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DESIGN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828526"/>
            <a:ext cx="3886200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for the confused community member — not just the freshman.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01" y="2070348"/>
            <a:ext cx="3886200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need: </a:t>
            </a:r>
            <a:pPr algn="l" indent="0" marL="0">
              <a:lnSpc>
                <a:spcPts val="1627"/>
              </a:lnSpc>
              <a:spcBef>
                <a:spcPts val="1200"/>
              </a:spcBef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fast, accurate answer to a timely question — without needing to know the right person.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701" y="2661196"/>
            <a:ext cx="3886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400"/>
              </a:spcBef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direction over the alternatives: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8701" y="2925217"/>
            <a:ext cx="3810000" cy="1218009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WhatsApp group or feed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history gets buried, membership resets yearly</a:t>
            </a:r>
            <a:endParaRPr lang="en-US" sz="1000" dirty="0"/>
          </a:p>
          <a:p>
            <a:pPr algn="l" marL="76200" indent="-762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chatbot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confident answers, wrong about local practice</a:t>
            </a:r>
            <a:endParaRPr lang="en-US" sz="1000" dirty="0"/>
          </a:p>
          <a:p>
            <a:pPr algn="l" marL="76200" indent="-762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freshmen-only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wall gets hit at every stage of an AUI career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24400" y="838200"/>
            <a:ext cx="3860750" cy="2487960"/>
          </a:xfrm>
          <a:prstGeom prst="roundRect">
            <a:avLst>
              <a:gd name="adj" fmla="val 4084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  <a:effectLst>
            <a:outerShdw sx="100000" sy="100000" kx="0" ky="0" algn="bl" rotWithShape="0" blurRad="95250" dist="30121" dir="4320000">
              <a:srgbClr val="1d2b22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62525" y="1050875"/>
            <a:ext cx="34521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6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PERSONA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2525" y="1241375"/>
            <a:ext cx="345219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700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Yassine — "the confused / lost community member"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62525" y="1838176"/>
            <a:ext cx="34521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5863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just didn't know I needed to register my car with campus security."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2525" y="2365177"/>
            <a:ext cx="3452190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or faculty. Needs one low-friction place to ask, and a current answer </a:t>
            </a:r>
            <a:pPr algn="l" indent="0" marL="0">
              <a:lnSpc>
                <a:spcPts val="1472"/>
              </a:lnSpc>
              <a:spcBef>
                <a:spcPts val="1000"/>
              </a:spcBef>
              <a:buNone/>
            </a:pPr>
            <a:r>
              <a:rPr lang="en-US" sz="950" b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an existing network</a:t>
            </a:r>
            <a:pPr algn="l" indent="0" marL="0">
              <a:lnSpc>
                <a:spcPts val="1472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Frustration: info exists somewhere — scattered across portal, offices, and people's heads.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4400" y="3440460"/>
            <a:ext cx="3937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Pressure-tested with Salma (the mentor who answers the same 3 questions) and Karim (visiting professor — no student network at all).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57200"/>
            <a:ext cx="3238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THE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752475"/>
            <a:ext cx="3238449" cy="103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1200"/>
              </a:spcBef>
              <a:buNone/>
            </a:pPr>
            <a:r>
              <a:rPr lang="en-US" sz="21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Verified Answer — the one interaction worth building.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944737"/>
            <a:ext cx="3174950" cy="578346"/>
          </a:xfrm>
          <a:prstGeom prst="roundRect">
            <a:avLst>
              <a:gd name="adj" fmla="val 13176"/>
            </a:avLst>
          </a:prstGeom>
          <a:solidFill>
            <a:srgbClr val="F7EC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302" y="2059037"/>
            <a:ext cx="2953664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AI drafts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AUI's own corpus — handbook + verified community answers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58701" y="2611934"/>
            <a:ext cx="3174950" cy="578346"/>
          </a:xfrm>
          <a:prstGeom prst="roundRect">
            <a:avLst>
              <a:gd name="adj" fmla="val 13176"/>
            </a:avLst>
          </a:prstGeom>
          <a:solidFill>
            <a:srgbClr val="F5EE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302" y="2726234"/>
            <a:ext cx="2953664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Shows its work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confidence score, blue = policy, amber = lived experience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8701" y="3279130"/>
            <a:ext cx="3174950" cy="578346"/>
          </a:xfrm>
          <a:prstGeom prst="roundRect">
            <a:avLst>
              <a:gd name="adj" fmla="val 13176"/>
            </a:avLst>
          </a:prstGeom>
          <a:solidFill>
            <a:srgbClr val="E6F0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302" y="3393430"/>
            <a:ext cx="2953664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2F6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 verified human confirms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tap, with their name and standing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8701" y="3946327"/>
            <a:ext cx="3174950" cy="578346"/>
          </a:xfrm>
          <a:prstGeom prst="roundRect">
            <a:avLst>
              <a:gd name="adj" fmla="val 13176"/>
            </a:avLst>
          </a:prstGeom>
          <a:solidFill>
            <a:srgbClr val="F5EE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302" y="4060627"/>
            <a:ext cx="2953664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The confirmation retrains Loop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next person gets it instantly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701" y="4651623"/>
            <a:ext cx="3238449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artifact fuses the AI, the trust system, and the learning loop.</a:t>
            </a:r>
            <a:endParaRPr lang="en-US" sz="900" dirty="0"/>
          </a:p>
        </p:txBody>
      </p:sp>
      <p:pic>
        <p:nvPicPr>
          <p:cNvPr id="13" name="Image 0" descr="/tmp/loop-pres-assets/verifie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457200"/>
            <a:ext cx="4648200" cy="322570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38600" y="3810000"/>
            <a:ext cx="4741164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screen: question → lifecycle stepper (drafted → verified → kept current) → AI draft with confidence and color-coded sources.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5720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THE 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727025"/>
            <a:ext cx="818682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Yassine's journey — warned early, answered fast, never stranded.</a:t>
            </a:r>
            <a:endParaRPr lang="en-US" sz="1800" dirty="0"/>
          </a:p>
        </p:txBody>
      </p:sp>
      <p:pic>
        <p:nvPicPr>
          <p:cNvPr id="4" name="Image 0" descr="/tmp/loop-pres-assets/m_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01" y="1498550"/>
            <a:ext cx="1650950" cy="3174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481310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Home.</a:t>
            </a:r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surface before they cost.</a:t>
            </a:r>
            <a:endParaRPr lang="en-US" sz="900" dirty="0"/>
          </a:p>
        </p:txBody>
      </p:sp>
      <p:pic>
        <p:nvPicPr>
          <p:cNvPr id="6" name="Image 1" descr="/tmp/loop-pres-assets/m_02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01" y="1498550"/>
            <a:ext cx="1650950" cy="3174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16101" y="481310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Ask.</a:t>
            </a:r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drafts, a human confirms.</a:t>
            </a:r>
            <a:endParaRPr lang="en-US" sz="900" dirty="0"/>
          </a:p>
        </p:txBody>
      </p:sp>
      <p:pic>
        <p:nvPicPr>
          <p:cNvPr id="8" name="Image 2" descr="/tmp/loop-pres-assets/m_05_thr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01" y="1498550"/>
            <a:ext cx="1650950" cy="31749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73501" y="481310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Spaces.</a:t>
            </a:r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Drafts wait for a verifier.</a:t>
            </a:r>
            <a:endParaRPr lang="en-US" sz="900" dirty="0"/>
          </a:p>
        </p:txBody>
      </p:sp>
      <p:pic>
        <p:nvPicPr>
          <p:cNvPr id="10" name="Image 3" descr="/tmp/loop-pres-assets/m_06_expl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901" y="1498550"/>
            <a:ext cx="1650950" cy="3174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30901" y="4813102"/>
            <a:ext cx="16839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Explore.</a:t>
            </a:r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Knowledge by situation.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5720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THE AI DIMENSION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727025"/>
            <a:ext cx="8186827" cy="31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spcBef>
                <a:spcPts val="1000"/>
              </a:spcBef>
              <a:buNone/>
            </a:pPr>
            <a:r>
              <a:rPr lang="en-US" sz="19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automation, high human control — at the same time.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1320701"/>
            <a:ext cx="3886200" cy="634901"/>
          </a:xfrm>
          <a:prstGeom prst="roundRect">
            <a:avLst>
              <a:gd name="adj" fmla="val 14002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0626" y="1457176"/>
            <a:ext cx="3633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does.</a:t>
            </a:r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Drafts answers only from AUI's corpus. States its scope. Never searches the public web.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58701" y="2069902"/>
            <a:ext cx="3886200" cy="634901"/>
          </a:xfrm>
          <a:prstGeom prst="roundRect">
            <a:avLst>
              <a:gd name="adj" fmla="val 14002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0626" y="2206377"/>
            <a:ext cx="3633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know it's AI.</a:t>
            </a:r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Terracotta + spark icon own every AI moment. AI content is never dressed as human.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58701" y="2819102"/>
            <a:ext cx="3886200" cy="815876"/>
          </a:xfrm>
          <a:prstGeom prst="roundRect">
            <a:avLst>
              <a:gd name="adj" fmla="val 10896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2955578"/>
            <a:ext cx="3633597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2F6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wrong.</a:t>
            </a:r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Anyone suggests a correction → a verifier reviews → the answer is rewritten and retrained — publicly, in the answer history.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8701" y="3749278"/>
            <a:ext cx="3886200" cy="634901"/>
          </a:xfrm>
          <a:prstGeom prst="roundRect">
            <a:avLst>
              <a:gd name="adj" fmla="val 14002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3885754"/>
            <a:ext cx="3633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2F6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in control.</a:t>
            </a:r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Below 60% confidence it refuses to guess and routes you to a verified person — by design.</a:t>
            </a:r>
            <a:endParaRPr lang="en-US" sz="950" dirty="0"/>
          </a:p>
        </p:txBody>
      </p:sp>
      <p:pic>
        <p:nvPicPr>
          <p:cNvPr id="12" name="Image 0" descr="/tmp/loop-pres-assets/askai_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00" y="1320701"/>
            <a:ext cx="3860750" cy="19431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24400" y="3378101"/>
            <a:ext cx="393796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8B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case, in the UI: 29% confidence on a legal-stakes question → "I'm not going to guess" → hand-off to Nadia at the International Programs office.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24400" y="4001988"/>
            <a:ext cx="3860750" cy="559891"/>
          </a:xfrm>
          <a:prstGeom prst="roundRect">
            <a:avLst>
              <a:gd name="adj" fmla="val 15878"/>
            </a:avLst>
          </a:prstGeom>
          <a:solidFill>
            <a:srgbClr val="F7EC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64001" y="4116288"/>
            <a:ext cx="3653180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7A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 on every answer: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A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"AI can be wrong. This draft was reviewed by a verified member before it appeared here."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1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5870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HUMAN-CENTERED AI PRINCIPLE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853976"/>
            <a:ext cx="7772400" cy="75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spcBef>
                <a:spcPts val="120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Shneiderman (2020): the best systems combine high automation with high human control.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7620000" cy="945952"/>
          </a:xfrm>
          <a:prstGeom prst="roundRect">
            <a:avLst>
              <a:gd name="adj" fmla="val 1074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5150" y="2070050"/>
            <a:ext cx="735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5150" y="2266801"/>
            <a:ext cx="73579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choose between a capable machine and a person in charge — automation and oversight should go up together.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2977902"/>
            <a:ext cx="7620000" cy="945952"/>
          </a:xfrm>
          <a:prstGeom prst="roundRect">
            <a:avLst>
              <a:gd name="adj" fmla="val 1074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65150" y="3142952"/>
            <a:ext cx="735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SHOWS 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5150" y="3339703"/>
            <a:ext cx="73579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 Answer screen: the answer lifecycle stepper (drafted → verified → kept current) and the human verification card, given equal weight to the AI card.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4050804"/>
            <a:ext cx="7620000" cy="1155502"/>
          </a:xfrm>
          <a:prstGeom prst="roundRect">
            <a:avLst>
              <a:gd name="adj" fmla="val 879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5150" y="4215854"/>
            <a:ext cx="735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IMPLEMENTED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5150" y="4412605"/>
            <a:ext cx="735797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Confirm / Correct as direct-manipulation objects; a public answer history where a student's correction retrained the model; and a deliberate omission — </a:t>
            </a:r>
            <a:pPr algn="l" indent="0" marL="0">
              <a:lnSpc>
                <a:spcPts val="1650"/>
              </a:lnSpc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can never auto-publish.</a:t>
            </a:r>
            <a:pPr algn="l" indent="0" marL="0">
              <a:lnSpc>
                <a:spcPts val="1650"/>
              </a:lnSpc>
              <a:spcBef>
                <a:spcPts val="500"/>
              </a:spcBef>
              <a:buNone/>
            </a:pPr>
            <a:r>
              <a:rPr lang="en-US" sz="11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answer stays a draft until a person stands behind 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5720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WHAT WE TESTED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727025"/>
            <a:ext cx="8186827" cy="31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spcBef>
                <a:spcPts val="1000"/>
              </a:spcBef>
              <a:buNone/>
            </a:pPr>
            <a:r>
              <a:rPr lang="en-US" sz="19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feedback changed the design — four times.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1346150"/>
            <a:ext cx="3886200" cy="822127"/>
          </a:xfrm>
          <a:prstGeom prst="roundRect">
            <a:avLst>
              <a:gd name="adj" fmla="val 9269"/>
            </a:avLst>
          </a:prstGeom>
          <a:solidFill>
            <a:srgbClr val="FB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2513" y="1346150"/>
            <a:ext cx="0" cy="822127"/>
          </a:xfrm>
          <a:prstGeom prst="line">
            <a:avLst/>
          </a:prstGeom>
          <a:noFill/>
          <a:ln w="47625">
            <a:solidFill>
              <a:srgbClr val="B565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1376" y="1485751"/>
            <a:ext cx="357864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"Floating buttons are dated."</a:t>
            </a:r>
            <a:pPr algn="l" indent="0" marL="0">
              <a:lnSpc>
                <a:spcPts val="1425"/>
              </a:lnSpc>
              <a:buNone/>
            </a:pPr>
            <a:endParaRPr lang="en-US" sz="95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 the floating Ask button → an inline composer at the top of each thread, where the question belongs.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8701" y="2307878"/>
            <a:ext cx="3886200" cy="822127"/>
          </a:xfrm>
          <a:prstGeom prst="roundRect">
            <a:avLst>
              <a:gd name="adj" fmla="val 9269"/>
            </a:avLst>
          </a:prstGeom>
          <a:solidFill>
            <a:srgbClr val="FB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2513" y="2307878"/>
            <a:ext cx="0" cy="822127"/>
          </a:xfrm>
          <a:prstGeom prst="line">
            <a:avLst/>
          </a:prstGeom>
          <a:noFill/>
          <a:ln w="47625">
            <a:solidFill>
              <a:srgbClr val="B565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376" y="2447479"/>
            <a:ext cx="357864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"Home feels empty."</a:t>
            </a:r>
            <a:pPr algn="l" indent="0" marL="0">
              <a:lnSpc>
                <a:spcPts val="1425"/>
              </a:lnSpc>
              <a:buNone/>
            </a:pPr>
            <a:endParaRPr lang="en-US" sz="95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empty search box became a proactive hub: deadlines surfaced before they cost, live Space activity, the growing corpus.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4400" y="1346150"/>
            <a:ext cx="3886200" cy="822127"/>
          </a:xfrm>
          <a:prstGeom prst="roundRect">
            <a:avLst>
              <a:gd name="adj" fmla="val 9269"/>
            </a:avLst>
          </a:prstGeom>
          <a:solidFill>
            <a:srgbClr val="FB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48213" y="1346150"/>
            <a:ext cx="0" cy="822127"/>
          </a:xfrm>
          <a:prstGeom prst="line">
            <a:avLst/>
          </a:prstGeom>
          <a:noFill/>
          <a:ln w="47625">
            <a:solidFill>
              <a:srgbClr val="2F6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075" y="1485751"/>
            <a:ext cx="357864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"Verification looks like a checkmark."</a:t>
            </a:r>
            <a:pPr algn="l" indent="0" marL="0">
              <a:lnSpc>
                <a:spcPts val="1425"/>
              </a:lnSpc>
              <a:buNone/>
            </a:pPr>
            <a:endParaRPr lang="en-US" sz="95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as a credible authenticator: who verified, their standing, what "confirmed" means, named co-confirmers, public history.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4400" y="2307878"/>
            <a:ext cx="3886200" cy="1003102"/>
          </a:xfrm>
          <a:prstGeom prst="roundRect">
            <a:avLst>
              <a:gd name="adj" fmla="val 7596"/>
            </a:avLst>
          </a:prstGeom>
          <a:solidFill>
            <a:srgbClr val="FB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8213" y="2307878"/>
            <a:ext cx="0" cy="1003102"/>
          </a:xfrm>
          <a:prstGeom prst="line">
            <a:avLst/>
          </a:prstGeom>
          <a:noFill/>
          <a:ln w="47625">
            <a:solidFill>
              <a:srgbClr val="2F6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075" y="2447479"/>
            <a:ext cx="357864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"Explore is a generic feed."</a:t>
            </a:r>
            <a:pPr algn="l" indent="0" marL="0">
              <a:lnSpc>
                <a:spcPts val="1425"/>
              </a:lnSpc>
              <a:buNone/>
            </a:pPr>
            <a:endParaRPr lang="en-US" sz="95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Reorganized by situation — international, transfer, exchange, faculty — because people arrive as "I'm new here," not as categories.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8701" y="4094113"/>
            <a:ext cx="8026301" cy="0"/>
          </a:xfrm>
          <a:prstGeom prst="line">
            <a:avLst/>
          </a:prstGeom>
          <a:noFill/>
          <a:ln w="9525">
            <a:solidFill>
              <a:srgbClr val="1D2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701" y="4251275"/>
            <a:ext cx="818682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pattern: every change moved trust from </a:t>
            </a:r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asking from </a:t>
            </a:r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widget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conversation already is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57200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WHAT WE'D DO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727025"/>
            <a:ext cx="8186827" cy="31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spcBef>
                <a:spcPts val="1000"/>
              </a:spcBef>
              <a:buNone/>
            </a:pPr>
            <a:r>
              <a:rPr lang="en-US" sz="19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more week: pressure-test the trust mechanics.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1320701"/>
            <a:ext cx="8026301" cy="723900"/>
          </a:xfrm>
          <a:prstGeom prst="roundRect">
            <a:avLst>
              <a:gd name="adj" fmla="val 12281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5927" y="1482626"/>
            <a:ext cx="78048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verification flow with real verified answerers: who qualifies, how confirmations are weighted, what makes someone willing to put their name on an answer. Concept-test with faculty (our extreme persona) — the least-served group.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8701" y="2171551"/>
            <a:ext cx="8026301" cy="723900"/>
          </a:xfrm>
          <a:prstGeom prst="roundRect">
            <a:avLst>
              <a:gd name="adj" fmla="val 12281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5927" y="2333476"/>
            <a:ext cx="78048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correction pipeline end-to-end: correction → verifier review → answer rewrite → retrain, with the answer history as the audit trail. Today it's a designed story; next week it should be a working loop.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8701" y="3022402"/>
            <a:ext cx="8026301" cy="723900"/>
          </a:xfrm>
          <a:prstGeom prst="roundRect">
            <a:avLst>
              <a:gd name="adj" fmla="val 12281"/>
            </a:avLst>
          </a:prstGeom>
          <a:solidFill>
            <a:srgbClr val="FBF8F2"/>
          </a:solidFill>
          <a:ln w="9525">
            <a:solidFill>
              <a:srgbClr val="1D2B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927" y="3184327"/>
            <a:ext cx="78048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rewards system. Salma wants recognition without being treated as infallible; points-per-post is the wrong currency. We'd prototype "Keeper of Record": credit for answers still trusted after you graduate.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8701" y="3928765"/>
            <a:ext cx="8026301" cy="0"/>
          </a:xfrm>
          <a:prstGeom prst="line">
            <a:avLst/>
          </a:prstGeom>
          <a:noFill/>
          <a:ln w="9525">
            <a:solidFill>
              <a:srgbClr val="1D2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701" y="4073128"/>
            <a:ext cx="8186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metric, from day one: </a:t>
            </a:r>
            <a:pPr algn="l" indent="0" marL="0">
              <a:buNone/>
            </a:pPr>
            <a:r>
              <a:rPr lang="en-US" sz="10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time-to-trustworthy-answer</a:t>
            </a:r>
            <a:pPr algn="l" indent="0" marL="0">
              <a:buNone/>
            </a:pPr>
            <a:r>
              <a:rPr lang="en-US" sz="1000" dirty="0">
                <a:solidFill>
                  <a:srgbClr val="58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share of answers still accurate one year later.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1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498550"/>
            <a:ext cx="7772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seniors know shouldn't graduate with them.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2755850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500" dirty="0">
                <a:solidFill>
                  <a:srgbClr val="A9B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— AI drafts. A verified human confirms. The campus never forgets.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3878163"/>
            <a:ext cx="7620000" cy="0"/>
          </a:xfrm>
          <a:prstGeom prst="line">
            <a:avLst/>
          </a:prstGeom>
          <a:noFill/>
          <a:ln w="9525">
            <a:solidFill>
              <a:srgbClr val="EDE7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4060627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FAROUK · MANAL · HAYTAM · ANASS   —   github.com/F4R0UK11/loop-project   ·   Thank you. Questions welcome.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 — The AUI Knowledge Network That Never Forgets</dc:title>
  <dc:subject>PptxGenJS Presentation</dc:subject>
  <dc:creator>Team Loop — AUI</dc:creator>
  <cp:lastModifiedBy>Team Loop — AUI</cp:lastModifiedBy>
  <cp:revision>1</cp:revision>
  <dcterms:created xsi:type="dcterms:W3CDTF">2026-07-15T00:05:13Z</dcterms:created>
  <dcterms:modified xsi:type="dcterms:W3CDTF">2026-07-15T00:05:13Z</dcterms:modified>
</cp:coreProperties>
</file>